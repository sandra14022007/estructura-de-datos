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40080" cy="640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90D9"/>
                </a:solidFill>
              </a:rPr>
              <a:t>ESTRUCTURAS DE DATOS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Modelacion de una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90D9"/>
                </a:solidFill>
              </a:rPr>
              <a:t>EMPRESA como Arbol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548640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Implementacion en C++ con estructura de nodos y punteros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C8"/>
                </a:solidFill>
              </a:rPr>
              <a:t>Universidad Tecnica de Ambato  |  Estructuras de Datos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¿Que es un Arbol?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DB4"/>
                </a:solidFill>
              </a:rPr>
              <a:t>Definicion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Un arbol es una estructura de datos jerarquica.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  Raiz: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nodo inicial, sin padre.
</a:t>
            </a:r>
            <a:pPr indent="0" marL="0">
              <a:buNone/>
            </a:pPr>
            <a:r>
              <a:rPr lang="en-US" sz="1300" b="1" dirty="0">
                <a:solidFill>
                  <a:srgbClr val="2E6DB4"/>
                </a:solidFill>
              </a:rPr>
              <a:t>  Nodo intermedio: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tiene hijos.
</a:t>
            </a:r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  Hoja: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nodo sin hijos.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1005840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Raiz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09728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Nodo inicial del arbol (EMPRESA)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84248"/>
            <a:ext cx="393192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984248"/>
            <a:ext cx="1005840" cy="74980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8424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Nivel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98424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Gerente General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71216"/>
            <a:ext cx="393192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871216"/>
            <a:ext cx="1005840" cy="7498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87121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Nivel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287121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Gerentes de area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758184"/>
            <a:ext cx="393192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758184"/>
            <a:ext cx="1005840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75818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Hojas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75818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Empleados (sin hijos)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Estructura del Arbol - Empresa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383280" y="10058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EMPRESA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0" cy="32004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8288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2E6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GERENTE GENERAL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2331720"/>
            <a:ext cx="0" cy="18288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2514600"/>
            <a:ext cx="521208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25146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146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25146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7432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8E44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GERENTE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VENTAS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20440" y="27432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8E44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GERENTE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OPERACIONES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74320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8E44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GERENTE 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FINANZAS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965960" y="3246120"/>
            <a:ext cx="0" cy="18288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3429000"/>
            <a:ext cx="155448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34290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34290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46120"/>
            <a:ext cx="0" cy="18288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3429000"/>
            <a:ext cx="155448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94760" y="34290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34290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3246120"/>
            <a:ext cx="0" cy="18288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3429000"/>
            <a:ext cx="1554480" cy="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4290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55280" y="3429000"/>
            <a:ext cx="0" cy="22860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657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 1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74520" y="3657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7452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 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3657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 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80560" y="3657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 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06440" y="3657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 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86600" y="36576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 6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4663440"/>
            <a:ext cx="22860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663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Raiz (Nivel 0)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514600" y="4663440"/>
            <a:ext cx="228600" cy="2286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4663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Nivel 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0" y="4663440"/>
            <a:ext cx="228600" cy="228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4663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Nivel 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629400" y="4663440"/>
            <a:ext cx="228600" cy="228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4663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Hojas (Nivel 3)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Estructura del Nodo en C++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Estructura de un nodo del arbol
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Nodo {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cargo;   // nombre del cargo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Nodo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izq;    // hijo izquierdo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Nodo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centro; // hijo del medio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Nodo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der;    // hijo derecho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Constructor del nodo
</a:t>
            </a:r>
            <a:pPr indent="0" marL="0">
              <a:buNone/>
            </a:pPr>
            <a:r>
              <a:rPr lang="en-US" sz="10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Nodo(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c) {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cargo  = c;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izq   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centro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der   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};
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Campos del struct: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463040"/>
            <a:ext cx="3108960" cy="566928"/>
          </a:xfrm>
          <a:prstGeom prst="rect">
            <a:avLst/>
          </a:prstGeom>
          <a:solidFill>
            <a:srgbClr val="F0F4FA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4630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</a:rPr>
              <a:t>cargo: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Guarda el nombre del empleado o gerente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2121408"/>
            <a:ext cx="3108960" cy="566928"/>
          </a:xfrm>
          <a:prstGeom prst="rect">
            <a:avLst/>
          </a:prstGeom>
          <a:solidFill>
            <a:srgbClr val="F0F4FA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212140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izq: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Puntero al hijo izquierdo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2779776"/>
            <a:ext cx="3108960" cy="566928"/>
          </a:xfrm>
          <a:prstGeom prst="rect">
            <a:avLst/>
          </a:prstGeom>
          <a:solidFill>
            <a:srgbClr val="F0F4FA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77977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centro: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Puntero al hijo del centro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3438144"/>
            <a:ext cx="3108960" cy="566928"/>
          </a:xfrm>
          <a:prstGeom prst="rect">
            <a:avLst/>
          </a:prstGeom>
          <a:solidFill>
            <a:srgbClr val="F0F4FA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343814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44AD"/>
                </a:solidFill>
              </a:rPr>
              <a:t>der: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Puntero al hijo derecho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4096512"/>
            <a:ext cx="3108960" cy="566928"/>
          </a:xfrm>
          <a:prstGeom prst="rect">
            <a:avLst/>
          </a:prstGeom>
          <a:solidFill>
            <a:srgbClr val="F0F4FA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409651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085"/>
                </a:solidFill>
              </a:rPr>
              <a:t>NULL: 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Sin hijo = puntero nulo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  |  Construyendo el Arbol en main()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Nivel 0 - Raiz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empresa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Nodo("EMPRESA");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Nivel 1 - Gerente General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empresa-&gt;izq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Nodo("GERENTE GENERAL");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gg = empresa-&gt;izq;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Nivel 2 - Tres gerentes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gg-&gt;izq   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Nodo("GERENTE DE VENTAS");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gg-&gt;centro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Nodo("GERENTE DE OPERACIONES");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gg-&gt;der   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Nodo("GERENTE DE FINANZAS");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Nivel 3 - Empleados (hojas) bajo ventas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gg-&gt;izq-&gt;izq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Nodo("EMPLEADO 1");  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gg-&gt;izq-&gt;der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Nodo("EMPLEADO 2");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Funcion mostrarArbol() - Recursion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mostrarArbol(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raiz,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nivel) {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(raiz ==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return;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Imprimir sangria segun nivel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0; i &lt; nivel; i++)
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    ";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"|-- " &lt;&lt; raiz-&gt;cargo &lt;&lt; endl;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Llamadas recursivas a hijos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mostrarArbol(raiz-&gt;izq,    nivel + 1);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mostrarArbol(raiz-&gt;centro, nivel + 1);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mostrarArbol(raiz-&gt;der,    nivel + 1);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7784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Como funciona la recursion: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508760"/>
            <a:ext cx="384048" cy="384048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8076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Caso base: si el nodo es NULL, termina.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2121408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20756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Imprime espacios segun el nivel de profundidad.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734056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268833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Muestra el cargo del nodo actual.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3346704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0760" y="33009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Llama a si misma con cada hijo (izq, centro, der).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77840" y="3959352"/>
            <a:ext cx="384048" cy="384048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3913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Incrementa el nivel +1 en cada llamada.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07  |  Salida en Consola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5F56"/>
                </a:solidFill>
              </a:rPr>
              <a:t>● ● 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output - C++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ESTRUCTURA ORGANIZACIONAL ===
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</a:t>
            </a:r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EMPRESA
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</a:t>
            </a:r>
            <a:pPr indent="0" marL="0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GERENTE GENERAL
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|-- </a:t>
            </a:r>
            <a:pPr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GERENTE DE VENTAS
</a:t>
            </a:r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|-- EMPLEADO 1
</a:t>
            </a:r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|-- EMPLEADO 2
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|-- </a:t>
            </a:r>
            <a:pPr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GERENTE DE OPERACIONES
</a:t>
            </a:r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|-- EMPLEADO 3
</a:t>
            </a:r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|-- EMPLEADO 4
</a:t>
            </a:r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|-- </a:t>
            </a:r>
            <a:pPr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GERENTE DE FINANZAS
</a:t>
            </a:r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|-- EMPLEADO 5
</a:t>
            </a:r>
            <a:pPr indent="0" marL="0">
              <a:buNone/>
            </a:pPr>
            <a:r>
              <a:rPr lang="en-US" sz="95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|-- EMPLEADO 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Analisis del recorrido: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0" y="1508760"/>
            <a:ext cx="1371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EMPRESA es la raiz (nivel 0), sin sangria.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0" y="2112264"/>
            <a:ext cx="137160" cy="4572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21122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Gerente General en nivel 1 (4 espacios).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0" y="2715768"/>
            <a:ext cx="137160" cy="4572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7157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Gerentes en nivel 2 (8 espacios).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03520" y="3319272"/>
            <a:ext cx="13716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3192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Empleados en nivel 3 (12 espacios), son hojas.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0" y="3922776"/>
            <a:ext cx="137160" cy="4572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9227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Recorrido PRE-ORDEN: padre antes que hijos.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08  |  Liberacion de Memoria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754880" cy="2560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Liberar memoria post-orden
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liberarArbol(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raiz) {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(raiz ==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return;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Primero liberamos los hijos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liberarArbol(raiz-&gt;izq);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liberarArbol(raiz-&gt;centro);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liberarArbol(raiz-&gt;der);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Despues liberamos el padre
</a:t>
            </a:r>
            <a:pPr indent="0" marL="0">
              <a:buNone/>
            </a:pPr>
            <a:r>
              <a:rPr lang="en-US" sz="1050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delete raiz;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3749040"/>
            <a:ext cx="4754880" cy="731520"/>
          </a:xfrm>
          <a:prstGeom prst="rect">
            <a:avLst/>
          </a:prstGeom>
          <a:solidFill>
            <a:srgbClr val="FFF3CD"/>
          </a:solidFill>
          <a:ln w="25400">
            <a:solidFill>
              <a:srgbClr val="F0AD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6404"/>
                </a:solidFill>
              </a:rPr>
              <a:t>! Importante: </a:t>
            </a:r>
            <a:pPr indent="0" marL="0">
              <a:buNone/>
            </a:pPr>
            <a:r>
              <a:rPr lang="en-US" sz="1100" dirty="0">
                <a:solidFill>
                  <a:srgbClr val="533F03"/>
                </a:solidFill>
              </a:rPr>
              <a:t>Siempre liberar la memoria que pedimos con new.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Orden POST-ORDEN: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1527048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463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 libera primero el hijo izquierdo.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121408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057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Luego el hijo central.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2715768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2651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Luego el hijo derecho.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3310128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3246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Finalmente el nodo padre (delete).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09  |  Resumen y Puntos Clave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E3060">
              <a:alpha val="80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73736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051560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Define cada elemento con cargo y 3 punteros (izq, centro, der).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1E3060">
              <a:alpha val="80000"/>
            </a:srgbClr>
          </a:solidFill>
          <a:ln w="19050">
            <a:solidFill>
              <a:srgbClr val="2E6D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01368"/>
            <a:ext cx="1737360" cy="658368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013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Nodo()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180136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Crea nodos dinamicamente en memoria heap con el constructor.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1E3060">
              <a:alpha val="80000"/>
            </a:srgbClr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51176"/>
            <a:ext cx="1737360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511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mostrarArbol()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551176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Recorre el arbol recursivamente en pre-orden con sangria.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1E3060">
              <a:alpha val="80000"/>
            </a:srgbClr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00984"/>
            <a:ext cx="1737360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0098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liberarArbol()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31720" y="3300984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Libera la memoria en post-orden (hijos antes que padre).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1E3060">
              <a:alpha val="80000"/>
            </a:srgbClr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050792"/>
            <a:ext cx="1737360" cy="65836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507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31720" y="4050792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Todos los hijos de nodos hoja quedan apuntando a NULL.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Modelacion de una Empresa - Arbol en C++</dc:title>
  <dc:subject>PptxGenJS Presentation</dc:subject>
  <dc:creator>PptxGenJS</dc:creator>
  <cp:lastModifiedBy>PptxGenJS</cp:lastModifiedBy>
  <cp:revision>1</cp:revision>
  <dcterms:created xsi:type="dcterms:W3CDTF">2026-04-23T02:11:39Z</dcterms:created>
  <dcterms:modified xsi:type="dcterms:W3CDTF">2026-04-23T02:11:39Z</dcterms:modified>
</cp:coreProperties>
</file>